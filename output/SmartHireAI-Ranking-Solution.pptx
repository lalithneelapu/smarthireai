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ed2a754ed4e8f" /><Relationship Type="http://schemas.openxmlformats.org/officeDocument/2006/relationships/extended-properties" Target="/docProps/app.xml" Id="R9ead56cc2d814b36" /><Relationship Type="http://schemas.openxmlformats.org/officeDocument/2006/relationships/officeDocument" Target="/ppt/presentation.xml" Id="R5b1f6e9ca9db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6f624e0b54ec4"/>
  </p:sldMasterIdLst>
  <p:notesMasterIdLst>
    <p:notesMasterId xmlns:r="http://schemas.openxmlformats.org/officeDocument/2006/relationships" r:id="R884f8416fe15410f"/>
  </p:notesMasterIdLst>
  <p:sldIdLst>
    <p:sldId xmlns:r="http://schemas.openxmlformats.org/officeDocument/2006/relationships" id="256" r:id="Rb9e2710012254206"/>
    <p:sldId xmlns:r="http://schemas.openxmlformats.org/officeDocument/2006/relationships" id="257" r:id="R75b23f50eee0476d"/>
    <p:sldId xmlns:r="http://schemas.openxmlformats.org/officeDocument/2006/relationships" id="258" r:id="R10dc91a7b3b94db1"/>
    <p:sldId xmlns:r="http://schemas.openxmlformats.org/officeDocument/2006/relationships" id="259" r:id="R49fc9e50cfdb42e3"/>
    <p:sldId xmlns:r="http://schemas.openxmlformats.org/officeDocument/2006/relationships" id="260" r:id="R401e5ffe2e1d445b"/>
    <p:sldId xmlns:r="http://schemas.openxmlformats.org/officeDocument/2006/relationships" id="261" r:id="Rfe0b2ee943dc4839"/>
    <p:sldId xmlns:r="http://schemas.openxmlformats.org/officeDocument/2006/relationships" id="262" r:id="Rbed0bad220fe449d"/>
    <p:sldId xmlns:r="http://schemas.openxmlformats.org/officeDocument/2006/relationships" id="263" r:id="R4bca8c708a24459d"/>
    <p:sldId xmlns:r="http://schemas.openxmlformats.org/officeDocument/2006/relationships" id="264" r:id="R9568c22b52494e91"/>
    <p:sldId xmlns:r="http://schemas.openxmlformats.org/officeDocument/2006/relationships" id="265" r:id="R76cb9841dca64135"/>
    <p:sldId xmlns:r="http://schemas.openxmlformats.org/officeDocument/2006/relationships" id="266" r:id="R03b345d5b4124c51"/>
    <p:sldId xmlns:r="http://schemas.openxmlformats.org/officeDocument/2006/relationships" id="267" r:id="Rd577bd2e851048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6f624e0b54ec4" /><Relationship Type="http://schemas.openxmlformats.org/officeDocument/2006/relationships/theme" Target="/ppt/theme/theme1.xml" Id="R907570ff40494423" /><Relationship Type="http://schemas.openxmlformats.org/officeDocument/2006/relationships/notesMaster" Target="/ppt/notesMasters/notesMaster1.xml" Id="R884f8416fe15410f" /><Relationship Type="http://schemas.openxmlformats.org/officeDocument/2006/relationships/presProps" Target="/ppt/presProps.xml" Id="Rf2e0e6ee2fa04d8f" /><Relationship Type="http://schemas.openxmlformats.org/officeDocument/2006/relationships/viewProps" Target="/ppt/viewProps.xml" Id="Rfd638e6eccfd40fa" /><Relationship Type="http://schemas.openxmlformats.org/officeDocument/2006/relationships/tableStyles" Target="/ppt/tableStyles.xml" Id="Rbdabde4864774cf9" /><Relationship Type="http://schemas.openxmlformats.org/officeDocument/2006/relationships/slide" Target="/ppt/slides/slide1.xml" Id="Rb9e2710012254206" /><Relationship Type="http://schemas.openxmlformats.org/officeDocument/2006/relationships/slide" Target="/ppt/slides/slide2.xml" Id="R75b23f50eee0476d" /><Relationship Type="http://schemas.openxmlformats.org/officeDocument/2006/relationships/slide" Target="/ppt/slides/slide3.xml" Id="R10dc91a7b3b94db1" /><Relationship Type="http://schemas.openxmlformats.org/officeDocument/2006/relationships/slide" Target="/ppt/slides/slide4.xml" Id="R49fc9e50cfdb42e3" /><Relationship Type="http://schemas.openxmlformats.org/officeDocument/2006/relationships/slide" Target="/ppt/slides/slide5.xml" Id="R401e5ffe2e1d445b" /><Relationship Type="http://schemas.openxmlformats.org/officeDocument/2006/relationships/slide" Target="/ppt/slides/slide6.xml" Id="Rfe0b2ee943dc4839" /><Relationship Type="http://schemas.openxmlformats.org/officeDocument/2006/relationships/slide" Target="/ppt/slides/slide7.xml" Id="Rbed0bad220fe449d" /><Relationship Type="http://schemas.openxmlformats.org/officeDocument/2006/relationships/slide" Target="/ppt/slides/slide8.xml" Id="R4bca8c708a24459d" /><Relationship Type="http://schemas.openxmlformats.org/officeDocument/2006/relationships/slide" Target="/ppt/slides/slide9.xml" Id="R9568c22b52494e91" /><Relationship Type="http://schemas.openxmlformats.org/officeDocument/2006/relationships/slide" Target="/ppt/slides/slide10.xml" Id="R76cb9841dca64135" /><Relationship Type="http://schemas.openxmlformats.org/officeDocument/2006/relationships/slide" Target="/ppt/slides/slide11.xml" Id="R03b345d5b4124c51" /><Relationship Type="http://schemas.openxmlformats.org/officeDocument/2006/relationships/slide" Target="/ppt/slides/slide12.xml" Id="Rd577bd2e8510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88f9c41ab2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a87796a344f1f" /><Relationship Type="http://schemas.openxmlformats.org/officeDocument/2006/relationships/notesMaster" Target="/ppt/notesMasters/notesMaster1.xml" Id="Rcd3c68eaa21b4d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d44a55d8041be" /><Relationship Type="http://schemas.openxmlformats.org/officeDocument/2006/relationships/notesMaster" Target="/ppt/notesMasters/notesMaster1.xml" Id="Ra66ecae2a31a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1fed57e1a4631" /><Relationship Type="http://schemas.openxmlformats.org/officeDocument/2006/relationships/notesMaster" Target="/ppt/notesMasters/notesMaster1.xml" Id="R86ed37cc588142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eae3c6a2dc47f4" /><Relationship Type="http://schemas.openxmlformats.org/officeDocument/2006/relationships/notesMaster" Target="/ppt/notesMasters/notesMaster1.xml" Id="Rbccf2b263e89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5a95042384bdf" /><Relationship Type="http://schemas.openxmlformats.org/officeDocument/2006/relationships/notesMaster" Target="/ppt/notesMasters/notesMaster1.xml" Id="R173c138efe1e45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84785436b04b1a" /><Relationship Type="http://schemas.openxmlformats.org/officeDocument/2006/relationships/notesMaster" Target="/ppt/notesMasters/notesMaster1.xml" Id="Rf70b986bd73944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6858171b4c4915" /><Relationship Type="http://schemas.openxmlformats.org/officeDocument/2006/relationships/notesMaster" Target="/ppt/notesMasters/notesMaster1.xml" Id="R1eccd6b717be41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048fef81842ba" /><Relationship Type="http://schemas.openxmlformats.org/officeDocument/2006/relationships/notesMaster" Target="/ppt/notesMasters/notesMaster1.xml" Id="Rffabfc92dff641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16a2abc0974abb" /><Relationship Type="http://schemas.openxmlformats.org/officeDocument/2006/relationships/notesMaster" Target="/ppt/notesMasters/notesMaster1.xml" Id="R3313b620dde240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617da77a8b4437" /><Relationship Type="http://schemas.openxmlformats.org/officeDocument/2006/relationships/notesMaster" Target="/ppt/notesMasters/notesMaster1.xml" Id="Rf658f02b06224f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d49c1b47c34f5f" /><Relationship Type="http://schemas.openxmlformats.org/officeDocument/2006/relationships/notesMaster" Target="/ppt/notesMasters/notesMaster1.xml" Id="R022a2eecc7a645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948136c862490e" /><Relationship Type="http://schemas.openxmlformats.org/officeDocument/2006/relationships/notesMaster" Target="/ppt/notesMasters/notesMaster1.xml" Id="R46983d54728b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8cd2c5f8b442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49a92623aa4ad9" /><Relationship Type="http://schemas.openxmlformats.org/officeDocument/2006/relationships/slideLayout" Target="/ppt/slideLayouts/slideLayout2.xml" Id="Red7fec4c34fa4f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fec4c34fa4f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531c345e3d42d4" /><Relationship Type="http://schemas.openxmlformats.org/officeDocument/2006/relationships/notesSlide" Target="/ppt/notesSlides/notesSlide1.xml" Id="R01159a88be28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2c900800b94275" /><Relationship Type="http://schemas.openxmlformats.org/officeDocument/2006/relationships/notesSlide" Target="/ppt/notesSlides/notesSlide2.xml" Id="Rffe799f560d6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4e6910d1241ab" /><Relationship Type="http://schemas.openxmlformats.org/officeDocument/2006/relationships/notesSlide" Target="/ppt/notesSlides/notesSlide3.xml" Id="R7c2bb288f83247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cfe9b74e3b4a13" /><Relationship Type="http://schemas.openxmlformats.org/officeDocument/2006/relationships/notesSlide" Target="/ppt/notesSlides/notesSlide4.xml" Id="R25c4d5f769ad49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c9d94b2af4a3e" /><Relationship Type="http://schemas.openxmlformats.org/officeDocument/2006/relationships/notesSlide" Target="/ppt/notesSlides/notesSlide5.xml" Id="Ra9716d622330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3c8faa53a24295" /><Relationship Type="http://schemas.openxmlformats.org/officeDocument/2006/relationships/notesSlide" Target="/ppt/notesSlides/notesSlide6.xml" Id="Rce4c8ffa275a47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1e60234a84899" /><Relationship Type="http://schemas.openxmlformats.org/officeDocument/2006/relationships/notesSlide" Target="/ppt/notesSlides/notesSlide7.xml" Id="Rdf2bdba29c42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f059f5e474c22" /><Relationship Type="http://schemas.openxmlformats.org/officeDocument/2006/relationships/notesSlide" Target="/ppt/notesSlides/notesSlide8.xml" Id="R9665911eeefa4c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aa99842c441f6" /><Relationship Type="http://schemas.openxmlformats.org/officeDocument/2006/relationships/notesSlide" Target="/ppt/notesSlides/notesSlide9.xml" Id="R315cdf589ded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3d0004f1c48ee" /><Relationship Type="http://schemas.openxmlformats.org/officeDocument/2006/relationships/notesSlide" Target="/ppt/notesSlides/notesSlide10.xml" Id="R0aad60578fd84f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4e4b7c9b634ec0" /><Relationship Type="http://schemas.openxmlformats.org/officeDocument/2006/relationships/notesSlide" Target="/ppt/notesSlides/notesSlide11.xml" Id="R36c8586d10fc4d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a144f2fca4592" /><Relationship Type="http://schemas.openxmlformats.org/officeDocument/2006/relationships/notesSlide" Target="/ppt/notesSlides/notesSlide12.xml" Id="R1ac4d4accc0045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64657-EB69-4154-A0E1-E7724C8D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23410-AFC5-4FF4-BCA2-380D63C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SMARTHIREAI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15024-BD0F-47CF-88ED-73A07995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Hybrid AI ranking for candidate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A8078-9553-464B-B7DA-598B1EDB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5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5EA"/>
                </a:solidFill>
                <a:latin typeface="Aptos"/>
                <a:ea typeface="Aptos"/>
                <a:cs typeface="Aptos"/>
              </a:rPr>
              <a:t>A CPU-only pipeline that extracts role requirements, retrieves a manageable candidate pool, reranks with semantic embeddings, and explains every rank with computed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A5F1-F4BB-4C35-A1F2-1A1E3B4D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0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EB9F8-2D0C-4921-9226-A2C52C4A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B931B-FEDC-42B7-8D54-24D5CB3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A8400-00C8-4F0F-B558-4EC1756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D7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D7DF"/>
                </a:solidFill>
                <a:latin typeface="Aptos"/>
                <a:ea typeface="Aptos"/>
                <a:cs typeface="Aptos"/>
              </a:rPr>
              <a:t>candidate profiles screened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443B9-47DF-4793-8B5D-CFA66569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0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167B9-3841-49BD-A2AE-C2A22FB4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2326C-A3C2-4DDF-9C66-C9134321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053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1496C-8AC1-4493-97A0-5BD4AB05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9720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D7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D7DF"/>
                </a:solidFill>
                <a:latin typeface="Aptos"/>
                <a:ea typeface="Aptos"/>
                <a:cs typeface="Aptos"/>
              </a:rPr>
              <a:t>semantic rerank 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B58F-1821-415A-8E4D-C79084A3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0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77DA-A9B0-4653-B257-8F420CF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865C1-3396-4839-9824-FF7E610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053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3DB24-CBBA-447E-BD49-D23236FD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D7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D7DF"/>
                </a:solidFill>
                <a:latin typeface="Aptos"/>
                <a:ea typeface="Aptos"/>
                <a:cs typeface="Aptos"/>
              </a:rPr>
              <a:t>honeypots in final top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B16E1-5E4D-4476-A76D-14B9A22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0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0FED3-1702-4E43-991F-A8AAE7F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2E4E8-C33F-4F6A-ACFD-AAC92C45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5053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&lt;1.5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2798E-793A-4144-B7A7-249DA79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720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DD7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D7DF"/>
                </a:solidFill>
                <a:latin typeface="Aptos"/>
                <a:ea typeface="Aptos"/>
                <a:cs typeface="Aptos"/>
              </a:rPr>
              <a:t>fast CPU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E1E2E-8E56-4165-BB86-B5BE479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382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0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EA5AC-BA00-43E5-A703-DD06847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0015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JD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TO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RANKED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3AEF6-6CB6-45CD-BD51-E251F058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Project evidence: README.md and output/final_submission.csv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9AED6-4CA8-4DA8-BC5B-42C449E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6400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32FA3-F400-4C09-A936-9CD6916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746694-67B0-4788-AE14-0ADE898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1C5CC9-E162-4555-8268-5D47A6A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DIFFERENTIATOR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4F2D-F4ED-45C4-AAD2-083AABB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Traditional systems match words; SmartHireAI ranks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F1C39-4D0A-470A-A148-60F7530D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4AA1B-346D-4CA2-A9E3-2C25C0C5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599B2-69A4-483B-BC73-96F3C82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BD462-612C-4051-9242-C598FAE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8597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Traditional 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DB58D-344D-416C-9E3F-69CDAB36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D112F-DF75-4679-A1C5-51C53FB9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859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SmartHireAI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5898F-989A-4B5B-8987-44211C85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9283-1081-4861-8A62-098DF49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8597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218AB-0FD6-4F01-AE4D-1CDD3F76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5F911-7EB2-40D8-B000-F7F11E2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859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84D5E-E064-43E6-BADE-AB93F773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8CAFD-8DA7-4C74-8DD9-52EA3A63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5FF4C-EDB5-4CE1-8685-705CBF6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ABDC8-FE65-44ED-B725-4412BF0F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Resume/JD keyword overlap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3E4CE-FA55-4595-BD1E-F4060C8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B4D23-7187-445D-8DF8-DC44366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Bi-encoder semantic fit plus structured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B7801-AA6A-433C-BCD2-4C3444A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3F88D-77C1-43FF-9CB3-610B4B3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051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Finds adjacent but relevant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CA805-4704-433E-8DCB-88EADC5A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1937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8A73A-EBD8-48C8-848D-657D6E9B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13095-3D47-4CCE-8D87-EC892D9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9E2A3-1076-4FD7-BAEA-396DEB71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Role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7B66D-D303-4616-8D04-ED750B1A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F537A-C12B-40BC-9705-D3280208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2422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Flat skill 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BB5E0-748B-47BD-A67A-72B1F921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38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641BA-8F37-4EE1-88AE-8CE2C010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242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Retrieval/ranking/vector DB/evaluation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90D48-5435-425C-9FBC-2C3BB76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86B4A1-6EE5-4F61-ACAD-85BC3D2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2422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Separates core AI search work from generic AI exposure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ED013-A301-452B-8A0B-B73BB822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0630A-961F-4F00-9AAA-47C535C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2422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A42C74-6E99-4F69-B71A-CF45F53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ACDB1-E7E9-44A1-AE7E-03810D9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4491AE-F4D5-4A72-846F-4D7336F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03E5B-957E-466B-A2FC-16FC1EB1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Assumes profile is truthful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50CAD-0C6C-46F4-A011-AC06C894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5762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D619C7-9620-4F61-8B54-77BB57E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Honeypot and inconsistency penalties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35EB2-293B-4946-9B5D-F7650429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06FF1D-176B-41BB-85FE-E59AE9F4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433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Reduces synthetic or stuffed profiles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144C3F-9F5A-4D50-82C9-7BABD27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CB1F27-8E1D-49B1-82DB-5E1BEF3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43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penalty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ABC12-C7A0-43D7-AC13-A6DBBB12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6B85A3-F5AB-4C7A-88CA-A867A12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94A55D-3492-40E1-BFB2-72FD0F8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58CE87-DC9C-4DAC-981B-AC5C0F1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Opaque match percentage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F7272E-7CF6-4710-B87F-D4DFCB06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76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107F8B-A43A-437F-BE3C-FCADEED1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624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Component scores in deterministic 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DCCD70-D9E9-423C-8C77-D73B003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3F8726-012C-4DE3-8AB3-4A8FCEB1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6247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Every claim comes from computed fields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85F5BA-E9AA-4E5C-A78C-115C0BD9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865626-4067-40CF-9864-3A49642D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624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36057B-7978-439B-87EA-BA21ABDA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8C391C-D1A6-4994-9021-DEF96AE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E02497-35F3-4F2F-B756-25634A7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193E78-7BB5-43D3-A455-4C8A48C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816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Often API or manual review heavy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D0B678-14E0-4349-B3CC-385194B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DA2DA8-D145-4A5D-8036-259A3E5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81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Two-stage CPU pipeline, offline ranking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8FEEFE-5A44-490B-AB7F-11D4B4B6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9587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98DC40-BDCB-46E1-A0AB-0250D80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816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Fits challenge constraints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7B7CED-7857-4D3F-A621-8D1EC020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9587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948FBF-FE3D-478D-A167-68A79DC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816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600E1D-C493-4FEC-8C10-EFA48AC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CD88F5-96C2-4448-AA6D-8871E9AF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4387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0A0FA0-5567-417F-B217-84A9209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F4B741-C087-4D39-B772-C3236D12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4D39DD-FC3C-4BC9-8918-0E637FB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JD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8590-1ABE-428C-9C8C-2B4BD1C6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JD is converted into explicit fit requirements before ranking.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88457-D0F5-487E-970F-80F563DC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B1AE6-9A52-4EFB-9907-A49D0B23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FEB1A-0441-4293-8706-724B1100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BB9DA-9B22-4008-A793-349BBE21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Role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F88F7-EF62-4FF5-B9C3-B0E5E0F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Senior AI Engineer / founding-team profile with strong applied ML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25961-552D-4A4B-B5A9-26976F7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5CDAE-1A96-42C6-AE12-E5D06EC1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FD288-9CF8-4E1F-AB83-E953B30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0E61B-6D19-4BE7-9D02-645EC702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Core domain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3FE4A-B0CF-410F-851F-89419BB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Retrieval, ranking, recommendation systems, semantic search, embeddings, RAG.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AA0EF-FC8B-4111-9F10-F24647A2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60E9B-1B9B-4C6E-B4FF-D89CF049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7A852-168D-46DE-8A73-A8DF3A8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2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7832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DECE8-7EA8-48A4-8464-6985FBAF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Technical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3E57D-0CDB-4505-8F3E-867A9D4D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Python, NLP, LLMs, vector databases, PyTorch/Transformers, SentenceTransformers.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3EE6A-EE49-4A0E-A4CB-2C7E625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FD438-D65B-4F9F-9CB5-1AF7679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2D9E9-691B-4C8B-8215-EBA30B9F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A4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94A4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302ED-4C3B-4A24-AC6B-579294B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Experience band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0F722-D9A1-4B09-9C53-9FF394D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Best fit concentrated around 5-9 years, with partial credit for adjacent seniority.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22C7F-BC82-43A1-8BEE-96907AD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3734B-A276-4599-A4BE-6E171A4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D90B1-E354-49F0-A959-62768E6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10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9B0B0-F360-43EA-A6AD-9A874FCD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00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Product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9C2B0-BF22-449B-8202-E1160C4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29175"/>
            <a:ext cx="2324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Product-company exposure is rewarded; consulting-heavy histories are discounted.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A241C-9E23-4AD1-A185-A6A20EEC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B3689-9A56-4543-BA7A-4DE65C27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3862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F6167F-82F9-4969-B4D3-4637C8F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10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305435-E478-4FDE-B799-12F7573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Evaluation maturity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6D5CA7-5AA0-41E4-868E-C53DCFE5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29175"/>
            <a:ext cx="2324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NDCG, MRR, MAP, offline evaluation, and A/B testing are searched explicitly.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3117B5-F220-4793-9FA4-52DDB5F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38625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51745A-FBDD-4DB1-B9E7-BE776B8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3862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3160D-CABC-4C83-8E7D-F7F6B43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0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2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7832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99420-BB95-4959-9D8F-EE751B23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007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80BAE8-8D1B-496D-8F9C-DA12005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29175"/>
            <a:ext cx="2324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Recent activity, assessments, response rate, interviews, saves, and completeness.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6E518C-4750-4956-B270-3DD3DC06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Note: original JD file was not present; requirements are inferred from scoring terms and README role description.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9E5CA7-DCB7-4296-9D3B-5FBE743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814D44-6AE2-4F57-BABB-4D7F8D3F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5100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F3FF4-7D40-474F-845F-190A35C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83DA41-F85F-439D-81BB-2C44F1E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83CA7C-03FA-45B7-BC79-4F0A8C2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CANDIDATE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C5662-81BC-4E99-8021-D388CB5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Fit is strongest when semantic relevance, role evidence, and trust signals agree.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82598-F3C2-4867-A198-035D2BC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2977A-2062-4665-AD7C-EB487BC3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43644-8C2F-4D62-8A20-8B9B3A0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47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Semantic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E1EE9-345F-44B8-A963-4AB4C43B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Cosine similarity between compact JD text and candidate profile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0C3B5-05CE-4948-A2CA-D61EAF8A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F64A8-0797-4234-ADA0-9A630F9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F7BDD-D62F-47B8-9AC4-B07FB457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Title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449FE-0358-4939-A867-FC900BF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AI/ML/search/recommendation titles receive high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59313-B880-4903-8BA8-C5648FF7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E4BF4-773C-4815-8373-A08C003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CC65F-6417-42FD-8C65-EF7455D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Retrieval depth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058F9-6E02-46C0-849C-E6137BA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527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Explicit search, ranking, recommendation, embeddings, hybrid retrieval vocabulary.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681D6-D055-4DC4-A643-65028BF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3F880-465C-4435-A502-E41009E5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46BFF-83ED-4E73-A81A-0DE966E5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Skill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73BDD-91C9-49A9-9650-2B576D78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527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Python, NLP, RAG, vector DBs, LLMs, transformers, PyTorch.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00D63-87EA-4C33-88AB-1F0E700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9F54D-CB24-41E6-A5B5-E9324792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5B31E-F030-4624-A295-19C0787E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EF39B-FF15-4D69-8E8B-7D37C02C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5-9 years is ideal for senior founding-team execution.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06EA8-EAFB-4A22-9F02-35981A6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788BB-576F-4A54-BEA4-34151099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54AB4-0D70-47BD-B891-F500C97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623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4CD0B9-B6FA-4083-A094-6B37FF0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00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Assessments, response rate, recency, interview completion, recruiter saves.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1E85F-64AA-4512-93A7-2740F97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D23F5-31D4-4770-B852-D352859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3D47E-68B0-4E40-BF7C-581B31C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96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Product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1AE3C-F7AA-4DCB-A51F-8AC5833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Work in product-led companies; penalty for consulting-heavy background.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017AF-1ACB-45BF-8102-4FFF382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281DA-EEAE-4352-A00D-E16D0D45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85E1EC-6613-44F0-8725-BC7FED4A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96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457E9F-C3D1-404B-8DFA-C5A44451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Honeypot penalty, impossible durations, keyword stuffing, non-tech title conflicts.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B53A7-8BE7-4C6E-BEB8-7E0C9BF8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CF4C2E-7517-45BF-BFC5-C171A32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19131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A7025-6C9A-43B0-A86D-7415590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513B88-BF48-4FD0-BBEB-0FE7EF2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A55A14-7F26-4B5C-9575-F4A182A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AAC8C-3D27-4EC7-8BDA-4D62E678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pipeline narrows the search space before using expensive semantic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F05A3-CF75-4C14-8149-93633CF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1E1E4-344E-47C5-ABDE-B5D58847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DB78A-CC09-458F-9765-D610534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ED618-D972-417D-B7EB-305FE5F7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JD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4D85E-B18E-4DF0-A4D0-1C995C9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Load and compress the role text for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DA919-FB07-445E-9B9C-BB79601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2575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CC7EC-E734-4BBF-BAD3-F2CD32FA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7106E-7B24-4A3F-9253-E627EB10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F4DE6-BED5-4C97-9239-680AC31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AACCC-ABD2-4E99-BA69-A95927D7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Candidate 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42ED0-1007-4B9A-9D49-0183B474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Read 100k profiles with skills, history, and Redrob signals.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90851-F2B9-4AB1-AAB5-94848E7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575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06F79-84A4-4895-908B-84EEF23A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2FA99-6C52-41A5-ACFB-80CC1D6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59047-0FFE-4B87-9F57-DBF5DE2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84F1B-A81F-4F4B-BF09-809C3F0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Heuristic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11F00-EA51-4567-8B51-9E70CAB4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Discard traps and keep top 2,500 high-signal candidates.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DC590-2721-4D3A-AFE9-2454BF5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575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24C42-29A3-450E-87A4-7755A06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CCA33-B21A-4D5E-96D8-E8B03851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371A9-CDDE-4AF7-BA3A-7277C43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1958B-6C6E-4E4E-A42A-3E51A8F5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Semantic rerank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27639-8D1B-47D6-961D-AC15178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Encode JD and candidate texts with a local SentenceTransformer.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0675F-962A-40D5-A790-4F842014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C02D8-1D03-4052-BFA8-BAE18FCD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3903A-783D-442B-B0AA-76DB3392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DBAA3-2C6B-417C-A84C-08BB0C3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B6CB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B87742-5F01-4B6B-8173-453952B7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Score fusion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D4D-312C-42C0-90DB-710A2F4C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Blend semantic, skills, experience, behavior, domain, and penalties.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4A286-05A0-4391-94D8-5DE3420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575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B18652-68EB-4447-945C-FBAE20A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81250"/>
            <a:ext cx="1638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9504A-EEC2-4F52-ABD2-A6AE6FB3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81250"/>
            <a:ext cx="1638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F05C6-8ECD-4FAA-8831-9F57CB7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52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8A7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6064C3-CD97-41DA-B598-4FF30E1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5527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Ranked 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9F42E-11CE-4790-AB45-9516B7C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71800"/>
            <a:ext cx="1295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Sort by score, tie-break by candidate_id, export CSV with reasons.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6CB93-DEB3-4D6E-886A-A5F9F259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BCD0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2BC9F-88B2-4557-BCFB-051EC66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971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Design choice: heuristics solve recall and safety cheaply; embeddings add semantic precision only after the pool is small enough for CPU runtime.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0B295-2120-4C0D-ABA9-C54141E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AAF6F5-6AC8-4F57-8D00-97F636FF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45112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A2037-1635-4102-91A9-6E316403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EE9507-958A-423E-9901-A2766CD6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7B5C75-2374-4688-9201-B6F63316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0B28E-F0B0-4071-9FE2-D99ED9E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A deterministic ranking core sits between ingestion and explainable submission.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E50E5-4512-4E68-8D97-4EC0723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000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1061-7D8D-498B-8315-8CF6740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A1430-1EFE-4F31-9AC9-A82F3F76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977AB-7E8E-4FD2-A143-470F3809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JD file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Candidate JSONL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92CA6-277F-41EF-9B4F-CCD7324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23356-4F24-4ED2-87B9-D6FB1B0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9F9EC-0AA1-4A1F-B5A5-A13C9DBA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F7219-FAD1-42FF-9FBC-F5E49B7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622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Corpus text builder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Title / skill / retrieval / behavior features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Honeypot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629E0-98D6-4921-9FE0-320A7F30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2000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22746-3466-44C5-8209-8B683D5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D8890-30E8-4B1F-9F60-4985359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27E89-6381-4385-B60E-A0D7B21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622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SentenceTransformer model cache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Normalized embeddings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Vectorized cosine similarity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097FF-3916-4313-B7BD-C4CB0E6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000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211B6-B7EF-4B83-A538-12F141F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2E310-CDBE-4158-9583-E51B307D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66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Ranking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AE78A-44E7-4153-A6FB-36B1F9A1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622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Weighted score fusion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Tie-break sorting</a:t>
            </a:r>
          </a:p>
          <a:p xmlns:a="http://schemas.openxmlformats.org/drawingml/2006/main">
            <a:pPr algn="l">
              <a:defRPr sz="120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Reason generator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35387-CB05-4E53-8B57-83B17749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B6D91-625D-45FF-A122-6A5F3ACA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99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C8DB1-6C34-4404-8CBF-996DABCC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30162-43DC-48FC-B735-C15F2F6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81250"/>
            <a:ext cx="1066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BCD0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E99C6-447E-4DA3-9728-D5852F0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76225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final_submission.csv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07182-368D-4820-A852-81B9212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03BC6-7FA5-41B0-BC5F-BC6CD631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7748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2A0BE-1A9C-4BF4-A200-117BF4A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C04422-1BE0-4EAC-ABBD-5755818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6881D3-AFBD-4641-8C50-CFEA682B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RETRIEVE, SCORE, RANK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99AA-43DA-41E9-9AC9-A40E439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Candidate generation is broad; final ranking is precise.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2F978-AA28-458C-96CB-3682F53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630B0-E6F4-4CA2-B5BD-8A534AA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4DA33-6FED-41A4-B13D-5383BAC6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100,000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696A8-784B-46FD-99F4-7395CB0F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loaded candidate 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39EC7-E183-4993-8B01-6AF2D8E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38375-8C1A-47F5-9D7D-BFCF73F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EF8D7-B23C-4C52-A00C-7E020E8D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66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2,500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BA943-AC19-4630-B8DF-EC43F59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3367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heuristic shortlist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2E37F-B4DB-457B-95C1-A4EB06F4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54EC3-44CF-43B6-8420-5B2F8795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3FEB6-7B29-4877-9800-61FC053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Top 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66BED-A13E-4DE2-AB68-454B18D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submission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27EA9-CD6F-4CF6-8477-C7AD893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4FD6E-6451-49E8-AB97-F141D0D6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2890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97ECF-5B6B-43BD-B985-93272E0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Stage 1: heuristic filter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9EF1D-049C-4125-96D4-8C71C0C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EBBF1-5660-420A-B051-7254F70D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862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Apply honeypot threshold first: penalty &gt;= 0.4 is excluded.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106C0-3255-4439-9EAF-0834A4C5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2CA0D-D990-40D0-A91C-51528CF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863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Score title, retrieval keywords, required skills, experience, behavior, AI depth.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F7305-7D25-4E81-94DF-66199B27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Stage 2: semantic rerank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F9FC7-54E5-4988-B1E6-14DEF0EE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27C56-9D59-4526-B695-5D7A861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Build dense candidate text from headline, summary, title, skills, jobs.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061D6-D0DC-40DC-B934-9616490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8A3BC-A3A8-4B26-ACCB-5A5394FF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Encode job and candidates locally, normalize embeddings, compute cosine similarity.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E3D5B-5EA8-4081-9406-F498C1DA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5B570-9B67-4990-BB51-155133FD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5724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59DEE-1333-4A66-8C06-7BFD0AE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B5C559-4A75-4D2F-9024-6E30A6C3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072E00-8D98-4411-AB4A-F7DA8319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MODELS AND HEURISTICS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93AE6-91F3-4B11-B11A-2D3D039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solution uses lightweight models where they add signal, and rules where precision is critical.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3B754-DBCF-426E-9DA5-9F7A1A56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A4DC5-661B-433B-A9E7-1816421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0186B-40C9-413F-A969-A683313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45AA3-664F-4810-B11B-8D81FB0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8597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C54E8-370D-4088-A825-ACE4E132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DAAC5-A390-4A37-B459-CE87804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859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D316C-6ACF-4EC8-9138-4A86FA4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E997E-9D59-4A9F-A0CE-A1FF47B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8597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Why chosen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30196-7D9B-4CE7-9F72-4EC6E36E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74C68-B034-49FF-8DFE-E4E0098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859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Risk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2DEE8-130A-47BF-BEE2-0F03D5D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636C0-EDBD-47E2-B462-0DA04FE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FE553-07EF-4ABE-A1BC-11CD32B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3C4E8-0099-4A24-B6DC-14D05D1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MiniLM fast / BGE-small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C000B-2EB7-4B2E-B343-B3EA2E75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3C432-ACD5-4A91-B7E9-3FD4C594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Semantic JD-profile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5BDF1-391A-4059-A720-EE1DC0A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C7C30-F42B-4DFB-AE45-0D42575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051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Local, CPU-friendly bi-encoder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8D36C-2FE3-4B00-AB91-7F17D2C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1937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CF590-65DC-4657-9F0D-957C058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 external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1E007-E1AD-434F-AD7C-F57D55B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1246E-2195-422C-B305-8CC0687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Cosine similarity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EA4F0-5CC2-4977-92B6-09CE9D4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F3C30E-50F6-4613-940F-5D5C3E2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2422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sklearn vectorized matrix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80D72-9D06-4642-8C1E-0192D643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38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8FA53-E479-4DB5-8AF8-0AB6F2A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242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Dense relevance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77B2D-6C97-4F03-800A-8982D75B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ABC4D-2906-477A-A1A8-0EF6FE8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2422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Fast over 2,500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3A7F80-F0B7-45D8-8EEE-4071934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A835C-91F3-47D9-A3A6-37818AA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2422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Normalized embeddings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1672C-7BC1-4C06-A8A1-32FBFBD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1B4FC-D699-474F-999F-AD35AAF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Feature heuristics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6991A-97C3-4D8B-A262-AA14118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2903CB-5389-47E6-8BC9-22C2A467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Retrieval, vector DB, eval, title, AI depth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2673C-F2B6-4B31-8D7F-2077715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5762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9696DE-A95F-4F29-8988-B4221CA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43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Role-specific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6B8BC7-1E60-466A-80F8-FC2F3F40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6BEDB4-DBC2-4BA1-90A8-26B05D6E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433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Interpretable and cheap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7059AF-07E6-4812-9F57-77C62D7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26B4D-DFB2-4C59-8E84-06C0897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43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Explicit terms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7865B7-26A8-40E7-9E1C-672FA3B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1F2EE5-9079-4FA2-BB0B-A40611F3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Behavioral score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0B181D-E9E4-4B1F-A152-324CAD0A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6D5124-5D2A-46C9-997B-163979A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Assessments, activity, response, saves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F90911-DFA7-437A-852C-072F008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767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B863B-AC77-4A14-B18D-8AB4EE6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624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Likelihood of hire/reachability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74FF32-3755-454C-B0AF-4D3D2F45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70F7E-18AD-496B-8A45-8434F43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62475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Uses platform signals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D84380-C53B-4DD7-87B6-D34D9D2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B5D6E9-DB12-411E-A62E-EDB40CD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624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Bounded weights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22523E-8C4C-4C29-BF9B-7BAFA47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3108B9-B93D-43EE-A282-0F9C270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Trap detector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9F0F9E-72B0-4281-9069-1C50A49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24107E-6B38-4514-8F62-DA00FB0D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816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Keyword stuffing, impossible durations, title conflicts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B116B5-2FDC-4C61-B0B9-F839A8E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3FFC00-75F6-46D0-807D-D4435B48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81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Profile trust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DA694E-F729-480E-A118-CD9559FC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95875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53CBB4-A875-4CAB-873A-2884BA15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8160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Rules outperform LLM guesses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DA3F96-4D71-4A7B-BB82-67927B54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95875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53D078-7FEF-4453-8BC8-97081D6D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816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Threshold + penalty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326DCA-6022-48C5-9E1E-2DF392EB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5B3C0B-1EBE-48A1-8D07-BF33956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24602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937BC-F778-401F-8A6A-D6757B4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722DBD-05E8-4934-A8CE-E5BD1F5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061EE4-E434-4C06-9331-06086B5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SIGNAL FUSION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DA23E-4149-47FB-B7DA-0791197B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The final ranking is a weighted blend with explicit bonuses and penalties.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F1F25-3B63-44EC-A5ED-1B5EAC7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Semantic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C16B-A18F-4694-BEAA-867631B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81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4E9C0-C8F0-44E9-839B-2EA763A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812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3E596-2AEC-4A32-921A-CAFD38EC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526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7983F-F109-46F4-B64D-1388D89E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Behavioral engagement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9B84A-DBF1-42C1-B416-2BAAF19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764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129C2-37F4-457D-8CAF-88DA2AC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76475"/>
            <a:ext cx="203947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A2379-0A18-4D49-96C9-907ACD0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E6DC1-20AE-46D4-8C7E-94D5489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Experience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C0FAB-F103-47E4-B5B5-3480148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36F4D-D98E-4A32-A123-4673E228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16024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920ED-4BCD-448B-AB16-0F92AE2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431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A980-0948-4144-AA1E-DE78812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Retrieval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613CC-CB69-41AE-BB92-F1D4EA68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670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9872F-F530-4F60-A415-8D8338E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67025"/>
            <a:ext cx="16024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E400C-472E-4E8D-BF95-4B78429D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384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7C322-1F74-4B62-99CB-C0CB67B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Title 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A859E-6A80-41E9-81B8-ADDD02E9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28AC8-F770-4F01-8CBC-CEB91A31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160244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555F3-DE34-40EA-B16A-062F51A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337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A14E0-C56A-4F93-95C3-484855F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Product-company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F36B9-2AEE-4BE9-B25B-2654D71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575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3E4C8-3569-4413-92C5-D59061BB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57575"/>
            <a:ext cx="116541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2EEDC8-534B-440B-992B-D2AA3DF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28F15-6556-434E-91B5-BCD6F30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Skill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ABBAF-83CC-40EF-A181-9E692C9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DB5EC-357A-40DD-9976-F11A1F1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101973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C2085-3513-41E8-90E5-6B527E9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242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77FF7-9A2E-43CB-83B1-CC3EF6B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Vector DB exposure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A8E366-275B-48DE-B6C3-DA9AF52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481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AAB398-F490-4B36-A154-635F5392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48125"/>
            <a:ext cx="8740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18197-9D53-4DC9-8BFC-8C9538A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195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B5334-25BD-44BA-9A1C-C0204A4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Evaluation maturity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E0855E-01F2-445A-BF02-BFC37DE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77B834-DDF5-4790-9C42-6A9CB2B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8740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0946D7-5270-496E-AFF5-96F8F709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148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386297-69E6-47BA-A0E1-588CE31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Open-source signal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D6914E-5FD5-4B0A-8EC7-876D31C0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3867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46E20-2F26-4A46-BEBE-DFBD200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38675"/>
            <a:ext cx="72838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0FCF24-94B6-4925-8D96-298626D0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10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74BF4C-0452-4130-B76B-7C2E947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 depth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5D7F0E-0266-4DBE-A07A-B3A5A39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339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15DBD3-56D9-4DD6-B175-D8237F7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33950"/>
            <a:ext cx="5827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4C9741-F297-490F-B872-462E588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05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4%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7A6EBF-077B-4775-806E-E0119705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1821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88DC76-312D-4706-94DD-CE92BFD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28875"/>
            <a:ext cx="319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final_score = weighted positives - 0.08*consulting - 0.15*honeypot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4AB8F5-CAEF-4A50-A3DD-A58EC2D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5EA"/>
                </a:solidFill>
                <a:latin typeface="Aptos"/>
                <a:ea typeface="Aptos"/>
                <a:cs typeface="Aptos"/>
              </a:rPr>
              <a:t>If honeypot &gt;= 0.4, score is forced to 0 before ranking.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33E57F-9AD4-49EB-BADA-808526FF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943D8B-BDA9-43C9-9D57-A1DC3BB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30552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91E17-2CDD-410E-B243-0C7236BA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8B01D3-0C19-4594-9FC9-AA7375D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0021E7-CF0B-4967-B3E3-617379B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D8403-28E1-4AF5-8412-042BD3F6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Ranking decisions are explained by computed features, not generated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D8181-D3D2-475B-A38F-B2761E4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A6CB-FBE8-4F51-B585-F051623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Example explanation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285A0-88DE-4FFC-86C1-F565E7F0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Senior Machine Learning Engineer with 7.2 years experience. Title fit (1.00), semantic (0.56), skills (0.45), retrieval (0.58), evaluation (0.45), product co (1.00), behavior (0.85), assessments (0.83), trap penalty (0.00).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36D56-22FE-423D-A699-30469015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191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BCD0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C6519-E31C-4036-9485-1392F4D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Hallucination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D284D-F66D-413F-8807-C67FF93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83BC5-1467-41DB-83D4-BB3A019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05125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No LLM writes candidate claims during 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92E96-65E7-482E-A560-2F38A06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9C446-53E0-4C7A-8579-3436F965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Reasoning uses only candidate title, years, and numeric component scores.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01570-0871-4F5E-8B70-634FB39F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38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DB3B1-F8AE-4A20-8B7F-C25A64B4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Unsupported achievements are never inferred from missing 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EA7E-8B93-424D-B3F5-AE538F5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E7DDE-DEE8-4DDD-B708-BDB15F94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CSV explanation is reproducible from deterministic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7EA0F-8D0D-4614-A7E7-4944835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6D79-8EFB-4580-BB8D-7DA32DB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79455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0D2D6-4DB4-4A77-8931-1703E748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813FF5-6BA7-4913-9EED-FA7087C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26CA86-8E39-4392-A901-0D7A000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QUALITY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E3D2B-7BDC-4869-8568-96CF2E94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Suspicious profiles are filtered before they can win on keyword density.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00F1E-809A-4283-84BE-0135ED7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7E95C-8393-48A8-9B84-E395DC67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4424C-0BE6-4AEB-84B8-B5DF254A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57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Keyword stuffing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6E2C-06AF-4E2C-9BC4-0D883710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145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Many expert skills with short durations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25D4E-CBFC-40E7-A89C-CCAFC6D1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86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Add penalty; threshold can exclude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C1F0A-007E-42AA-9A3D-4478AE60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A92E8-4BC9-4A3D-BE78-3943A10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E93B1-51A8-41AF-9D5A-F40730A9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Impossible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92C2E-987D-47F6-A104-2B473F55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3852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Skill duration exceeds total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D5E89-F3BA-46BC-B97A-D9F7DA0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099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Duration consistency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EC94F-5693-448A-8BFE-D17439D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E82B0-0215-4B97-A914-7A92A6D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EF2F2-AA39-4DB2-84D4-087B7D0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Non-tech 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81AD4-DEDE-4CD4-A1FE-E12BD155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Marketing/HR/etc. title with heavy AI marker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6C170-C073-42F7-A11F-8978DAA4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339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Large title-conflict 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DA9B0-2A77-468C-B1A1-7CEF4A5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F6F90-3D3A-4DE2-9F0D-6AF68D6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99A2D-E4FF-4354-A07E-AAFDEEE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57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Synthetic summaries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29F65-F8B4-4D74-853D-234DE72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145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Known honeypot phrases in summary 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DDAE1-777A-42A3-AFA0-1A7A9E1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Summary phrase trap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17F6B-639E-44D9-A3BC-C6A5A0D8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3526E-ACDF-45A3-8027-8A19A155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7F282-F31D-4D01-9D1F-6053DCB5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81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Inflated endorsements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CC33A1-308F-49FF-9834-65201178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3852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High endorsements with low years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EF1A7-78A4-4B9C-87A0-8D4197B0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Endorsement-years penalty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91D649-A4AC-4E38-845B-11E83CD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00525"/>
            <a:ext cx="4619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B01B0-72ED-416B-9218-614BC201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005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F8538-BB2D-44FD-B703-7C33550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05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Consulting-heavy background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F66BCF-34D5-4A72-A591-781792D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624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Many jobs from consulting 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E9B405-2225-441F-A3A0-8E5FDD7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Final score deduction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99DF9A-F896-420B-BC5C-D48318D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Audit evidence in README: honeypots in Top100 = 0.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69C7E7-A7E0-4C66-8E13-74D83C5B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96296-0C2F-42FF-A0A7-C13BA61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80449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8532C-9EF8-4A75-8D8D-6518657E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21D26A-A5D6-47DF-B0F5-0AF46492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9162C9-F9B0-4FCD-9715-68A9B825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A72"/>
                </a:solidFill>
                <a:latin typeface="Aptos"/>
                <a:ea typeface="Aptos"/>
                <a:cs typeface="Aptos"/>
              </a:rPr>
              <a:t>RESULTS AND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85937-EEDC-4BB5-9DC8-3CAFD43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Ranking quality is shown through coherent top candidates, audit results, and constraint compliance.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CF9EF-302C-4F95-80CC-7B328F24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3FF53-A4A3-4218-B08E-68409F4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D5130-6D7B-449F-A1E0-B47141D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87F99-4A09-44EC-AEA0-281D675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842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honeypot rate in top 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04C4-2A72-4E03-9038-46DF8CA6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BA9A8-0A6E-45FA-9E3D-EDE04D50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7D723-B0F8-47E0-88D6-2CE16E7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0.78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36B79-4E84-4A8A-9537-54EC810A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top observed final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49CF1-C5E6-4572-9907-7EB5D2C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19F1E-B4B4-428B-B0BD-F74B36A6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0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4B4CF-F870-4178-B316-B500162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offline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EBCB-2F63-4C7F-9BF9-46645653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3842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no network during 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37FD7-C0E0-4CA6-A747-084365FF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2047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DD404-8188-41E0-BAC9-5B232F96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FF509-ED81-45D8-B466-3E1CFC6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CPU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F4106-E3B6-4C61-BDBA-04CB2F3E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38425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under 5-minute constraint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C3413-891E-40F1-9F18-3BE0F6F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Quality insights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6D715-43EA-4E81-8B71-39BA57D1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3BD00-45B0-4C38-B79D-FEF5067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Top profiles combine senior AI/ML titles, 5-8 years of experience, high behavior, and zero trap penalty.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7EA4B-88DD-4574-ADF3-49D4D633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07F19-BCB6-4AB7-862E-F55AB8E5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101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Explanations expose why one candidate outranks another through component scores.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E761A-11E0-4000-A4D4-4F0D9AA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Technology choices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42E5F-DB8E-4FD0-A7D3-173FE1A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54A58-B428-49B2-98C5-915C721D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1719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Python, pandas, scikit-learn: reliable batch ranking and CSV output.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7A76B-4261-4B96-B778-616B97E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86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8E122-D398-4EBF-AAA5-F07E0895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101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SentenceTransformers: local semantic ranking without external calls.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AE2ED-5ED4-4CF8-92B4-7ED7297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9639B-8A63-4D06-ACC7-24CD0E2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482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Streamlit: judge-friendly UI for uploading JD/profile files and downloading results.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898E0-507A-4314-8D41-DBC09832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Sources: README.md, src/ranker.py, src/scoring.py, src/feature_engineering.py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28D499-820B-44EC-82D4-C4B1280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8782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2026-06-29T05:01:28.0400000Z</dcterms:created>
  <dcterms:modified xsi:type="dcterms:W3CDTF">2026-06-29T05:01:28.0400000Z</dcterms:modified>
</coreProperties>
</file>